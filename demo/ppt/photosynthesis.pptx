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-1371600"/>
            <a:ext cx="6400800" cy="640080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4023360"/>
            <a:ext cx="3840480" cy="3840480"/>
          </a:xfrm>
          <a:prstGeom prst="ellipse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C55E"/>
                </a:solidFill>
                <a:latin typeface="Poppins"/>
              </a:rPr>
              <a:t>CLASS 10 · BIOLOGY · LIFE PROCESSES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65836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Poppins"/>
              </a:rPr>
              <a:t>Photosynthesis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6583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8FB5A6"/>
                </a:solidFill>
                <a:latin typeface="Poppins"/>
              </a:rPr>
              <a:t>How green plants make their own food using sunlight, water and carbon dioxide.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Poppin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What is Photosynthesis?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984247"/>
            <a:ext cx="292608" cy="29260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1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CEFE6"/>
                </a:solidFill>
                <a:latin typeface="Poppins"/>
              </a:rPr>
              <a:t>Process by which green plants make glucose (food) from simple raw materials.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52927"/>
            <a:ext cx="292608" cy="292608"/>
          </a:xfrm>
          <a:prstGeom prst="ellipse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74319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CEFE6"/>
                </a:solidFill>
                <a:latin typeface="Poppins"/>
              </a:rPr>
              <a:t>Takes place mainly in the leaves, inside chloroplasts.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721607"/>
            <a:ext cx="292608" cy="29260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61187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CEFE6"/>
                </a:solidFill>
                <a:latin typeface="Poppins"/>
              </a:rPr>
              <a:t>Uses light energy from the Sun, absorbed by chlorophyll.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590287"/>
            <a:ext cx="292608" cy="292608"/>
          </a:xfrm>
          <a:prstGeom prst="ellipse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48055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CEFE6"/>
                </a:solidFill>
                <a:latin typeface="Poppins"/>
              </a:rPr>
              <a:t>Releases oxygen as a by-product into the air.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82880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23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20574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Poppins"/>
              </a:rPr>
              <a:t>Remember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606040"/>
            <a:ext cx="33832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CEFE6"/>
                </a:solidFill>
                <a:latin typeface="Poppins"/>
              </a:rPr>
              <a:t>Plants are called autotrophs because they make their own food.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FB5A6"/>
                </a:solidFill>
                <a:latin typeface="Poppins"/>
              </a:rPr>
              <a:t>Photosynthesis · Class 10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FB5A6"/>
                </a:solidFill>
                <a:latin typeface="Poppi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Poppins"/>
              </a:rPr>
              <a:t>CHEMICAL EQUATION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The Equation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2011680"/>
          </a:xfrm>
          <a:prstGeom prst="roundRect">
            <a:avLst>
              <a:gd name="adj" fmla="val 8000"/>
            </a:avLst>
          </a:prstGeom>
          <a:solidFill>
            <a:srgbClr val="123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22C55E"/>
                </a:solidFill>
                <a:latin typeface="Poppins"/>
              </a:rPr>
              <a:t>6CO₂ + 12H₂O  →  C₆H₁₂O₆ + 6O₂ + 6H₂O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8FB5A6"/>
                </a:solidFill>
                <a:latin typeface="Poppins"/>
              </a:rPr>
              <a:t>Carbon dioxide + Water  —(sunlight, chlorophyll)→  Glucose + Oxygen + Water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FB5A6"/>
                </a:solidFill>
                <a:latin typeface="Poppins"/>
              </a:rPr>
              <a:t>Photosynthesis · Class 10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FB5A6"/>
                </a:solidFill>
                <a:latin typeface="Poppi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Poppins"/>
              </a:rPr>
              <a:t>WHAT PLANTS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Raw Materials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123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444240" cy="12801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Carbon Dioxide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CEFE6"/>
                </a:solidFill>
                <a:latin typeface="Poppins"/>
              </a:rPr>
              <a:t>Enters the leaf through tiny pores called stomata.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008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123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50080" y="1920240"/>
            <a:ext cx="3444240" cy="128016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440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Water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40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CEFE6"/>
                </a:solidFill>
                <a:latin typeface="Poppins"/>
              </a:rPr>
              <a:t>Absorbed by roots from the soil and carried up by xylem.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864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123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68640" y="1920240"/>
            <a:ext cx="3444240" cy="12801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296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Sunlight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296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CEFE6"/>
                </a:solidFill>
                <a:latin typeface="Poppins"/>
              </a:rPr>
              <a:t>Trapped by chlorophyll, the green pigment in chloroplasts.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FB5A6"/>
                </a:solidFill>
                <a:latin typeface="Poppins"/>
              </a:rPr>
              <a:t>Photosynthesis · Class 10 Science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FB5A6"/>
                </a:solidFill>
                <a:latin typeface="Poppi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Poppins"/>
              </a:rPr>
              <a:t>SITE OF PHOTOSYNTHESIS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Chloroplast: The Food Factory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984247"/>
            <a:ext cx="292608" cy="29260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1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CEFE6"/>
                </a:solidFill>
                <a:latin typeface="Poppins"/>
              </a:rPr>
              <a:t>Double-membrane organelle found in mesophyll cells.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52927"/>
            <a:ext cx="292608" cy="292608"/>
          </a:xfrm>
          <a:prstGeom prst="ellipse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74319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CEFE6"/>
                </a:solidFill>
                <a:latin typeface="Poppins"/>
              </a:rPr>
              <a:t>Contains stacks of thylakoids called grana.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721607"/>
            <a:ext cx="292608" cy="29260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61187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CEFE6"/>
                </a:solidFill>
                <a:latin typeface="Poppins"/>
              </a:rPr>
              <a:t>Chlorophyll in thylakoids absorbs red and blue light.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590287"/>
            <a:ext cx="292608" cy="292608"/>
          </a:xfrm>
          <a:prstGeom prst="ellipse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48055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CEFE6"/>
                </a:solidFill>
                <a:latin typeface="Poppins"/>
              </a:rPr>
              <a:t>Fluid around grana is called stroma.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82880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23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20574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Poppins"/>
              </a:rPr>
              <a:t>Fun fact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606040"/>
            <a:ext cx="33832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CEFE6"/>
                </a:solidFill>
                <a:latin typeface="Poppins"/>
              </a:rPr>
              <a:t>One leaf cell can have 20 to 100 chloroplasts.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FB5A6"/>
                </a:solidFill>
                <a:latin typeface="Poppins"/>
              </a:rPr>
              <a:t>Photosynthesis · Class 10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FB5A6"/>
                </a:solidFill>
                <a:latin typeface="Poppi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Poppins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Two Main Stages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303520" cy="3931920"/>
          </a:xfrm>
          <a:prstGeom prst="roundRect">
            <a:avLst>
              <a:gd name="adj" fmla="val 7000"/>
            </a:avLst>
          </a:prstGeom>
          <a:solidFill>
            <a:srgbClr val="123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303520" cy="12801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Light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47548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CEFE6"/>
                </a:solidFill>
                <a:latin typeface="Poppins"/>
              </a:rPr>
              <a:t>In thylakoids. Light splits water, releasing O₂. ATP and NADPH are formed.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3931920"/>
          </a:xfrm>
          <a:prstGeom prst="roundRect">
            <a:avLst>
              <a:gd name="adj" fmla="val 7000"/>
            </a:avLst>
          </a:prstGeom>
          <a:solidFill>
            <a:srgbClr val="123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920240"/>
            <a:ext cx="5303520" cy="128016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Dark Reaction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154680"/>
            <a:ext cx="47548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CEFE6"/>
                </a:solidFill>
                <a:latin typeface="Poppins"/>
              </a:rPr>
              <a:t>In stroma (Calvin cycle). CO₂ is fixed into glucose using ATP and NADPH.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FB5A6"/>
                </a:solidFill>
                <a:latin typeface="Poppins"/>
              </a:rPr>
              <a:t>Photosynthesis · Class 10 Science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FB5A6"/>
                </a:solidFill>
                <a:latin typeface="Poppi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Poppins"/>
              </a:rPr>
              <a:t>GAS EXCHANGE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Role of Stomata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984247"/>
            <a:ext cx="292608" cy="29260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19"/>
            <a:ext cx="10058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CEFE6"/>
                </a:solidFill>
                <a:latin typeface="Poppins"/>
              </a:rPr>
              <a:t>Allow exchange of gases: CO₂ in, O₂ out.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52927"/>
            <a:ext cx="292608" cy="292608"/>
          </a:xfrm>
          <a:prstGeom prst="ellipse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743199"/>
            <a:ext cx="10058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CEFE6"/>
                </a:solidFill>
                <a:latin typeface="Poppins"/>
              </a:rPr>
              <a:t>Guard cells open and close each stoma.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721607"/>
            <a:ext cx="292608" cy="29260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611879"/>
            <a:ext cx="10058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CEFE6"/>
                </a:solidFill>
                <a:latin typeface="Poppins"/>
              </a:rPr>
              <a:t>Stomata close when the plant needs to save water.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590287"/>
            <a:ext cx="292608" cy="292608"/>
          </a:xfrm>
          <a:prstGeom prst="ellipse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480559"/>
            <a:ext cx="10058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CEFE6"/>
                </a:solidFill>
                <a:latin typeface="Poppins"/>
              </a:rPr>
              <a:t>Water vapour also escapes through them (transpiration).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FB5A6"/>
                </a:solidFill>
                <a:latin typeface="Poppins"/>
              </a:rPr>
              <a:t>Photosynthesis · Class 10 Science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FB5A6"/>
                </a:solidFill>
                <a:latin typeface="Poppi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Poppins"/>
              </a:rPr>
              <a:t>LIMITING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Factors Affecting the 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14600" cy="3931920"/>
          </a:xfrm>
          <a:prstGeom prst="roundRect">
            <a:avLst>
              <a:gd name="adj" fmla="val 7000"/>
            </a:avLst>
          </a:prstGeom>
          <a:solidFill>
            <a:srgbClr val="123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514600" cy="12801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oppins"/>
              </a:rPr>
              <a:t>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19659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CEFE6"/>
                </a:solidFill>
                <a:latin typeface="Poppins"/>
              </a:rPr>
              <a:t>More light, faster rate, up to a limit.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920240"/>
            <a:ext cx="2514600" cy="3931920"/>
          </a:xfrm>
          <a:prstGeom prst="roundRect">
            <a:avLst>
              <a:gd name="adj" fmla="val 7000"/>
            </a:avLst>
          </a:prstGeom>
          <a:solidFill>
            <a:srgbClr val="123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1920240"/>
            <a:ext cx="2514600" cy="128016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286000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oppins"/>
              </a:rPr>
              <a:t>CO₂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154680"/>
            <a:ext cx="19659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CEFE6"/>
                </a:solidFill>
                <a:latin typeface="Poppins"/>
              </a:rPr>
              <a:t>Higher CO₂ level increases the rate.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920240"/>
            <a:ext cx="2514600" cy="3931920"/>
          </a:xfrm>
          <a:prstGeom prst="roundRect">
            <a:avLst>
              <a:gd name="adj" fmla="val 7000"/>
            </a:avLst>
          </a:prstGeom>
          <a:solidFill>
            <a:srgbClr val="123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920240"/>
            <a:ext cx="2514600" cy="12801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oppins"/>
              </a:rPr>
              <a:t>Temperature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54680"/>
            <a:ext cx="19659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CEFE6"/>
                </a:solidFill>
                <a:latin typeface="Poppins"/>
              </a:rPr>
              <a:t>Enzymes work best around 25–35 °C.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514600" cy="3931920"/>
          </a:xfrm>
          <a:prstGeom prst="roundRect">
            <a:avLst>
              <a:gd name="adj" fmla="val 7000"/>
            </a:avLst>
          </a:prstGeom>
          <a:solidFill>
            <a:srgbClr val="123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920240"/>
            <a:ext cx="2514600" cy="128016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286000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oppins"/>
              </a:rPr>
              <a:t>Water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154680"/>
            <a:ext cx="19659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CEFE6"/>
                </a:solidFill>
                <a:latin typeface="Poppins"/>
              </a:rPr>
              <a:t>Shortage closes stomata and slows the process.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FB5A6"/>
                </a:solidFill>
                <a:latin typeface="Poppins"/>
              </a:rPr>
              <a:t>Photosynthesis · Class 10 Science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FB5A6"/>
                </a:solidFill>
                <a:latin typeface="Poppi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Poppins"/>
              </a:rPr>
              <a:t>CHECK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Practice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oppins"/>
              </a:rPr>
              <a:t>Q1. Where in the cell does photosynthesis take place?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8FB5A6"/>
                </a:solidFill>
                <a:latin typeface="Poppins"/>
              </a:rPr>
              <a:t>(a) Mitochondria     (b) Chloroplast     (c) Nucleus     (d) Ribosome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oppins"/>
              </a:rPr>
              <a:t>Q2. Which gas is released during photosynthesis?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74904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8FB5A6"/>
                </a:solidFill>
                <a:latin typeface="Poppins"/>
              </a:rPr>
              <a:t>(a) CO₂     (b) N₂     (c) O₂     (d) H₂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5488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oppins"/>
              </a:rPr>
              <a:t>Q3. The green pigment that absorbs light is called…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21208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8FB5A6"/>
                </a:solidFill>
                <a:latin typeface="Poppins"/>
              </a:rPr>
              <a:t>(a) Chlorophyll     (b) Haemoglobin     (c) Melanin     (d) Carotene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FB5A6"/>
                </a:solidFill>
                <a:latin typeface="Poppins"/>
              </a:rPr>
              <a:t>Photosynthesis · Class 10 Science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FB5A6"/>
                </a:solidFill>
                <a:latin typeface="Poppi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Poppins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8FB5A6"/>
                </a:solidFill>
                <a:latin typeface="Poppins"/>
              </a:rPr>
              <a:t>Answers: Q1 (b) · Q2 (c) · Q3 (a)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