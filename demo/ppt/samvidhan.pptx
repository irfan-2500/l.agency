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371600"/>
            <a:ext cx="6400800" cy="64008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02336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Hind"/>
              </a:rPr>
              <a:t>कक्षा 8 · सामाजिक विज्ञान · नागरिक शास्त्र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583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3B1D06"/>
                </a:solidFill>
                <a:latin typeface="Hind"/>
              </a:rPr>
              <a:t>भारत का संविधान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8A6A4F"/>
                </a:solidFill>
                <a:latin typeface="Hind"/>
              </a:rPr>
              <a:t>हमारे देश का सबसे बड़ा कानून: नागरिकों के अधिकार, कर्तव्य और सरकार के काम करने के नियम।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परिचय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संविधान क्या है?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देश को चलाने के लिए बनाए गए मूल नियमों का लिखित दस्तावेज़।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संविधान सभा ने इसे 2 वर्ष 11 महीने 18 दिन में तैयार किया।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26 नवंबर 1949 को अपनाया गया।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26 जनवरी 1950 से पूरे देश में लागू हुआ।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Hind"/>
              </a:rPr>
              <a:t>याद रखें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F2A1A"/>
                </a:solidFill>
                <a:latin typeface="Hind"/>
              </a:rPr>
              <a:t>डॉ. भीमराव अंबेडकर संविधान की प्रारूप समिति के अध्यक्ष थे।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संविधान की आत्मा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प्रस्तावना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EA580C"/>
                </a:solidFill>
                <a:latin typeface="Hind"/>
              </a:rPr>
              <a:t>“हम, भारत के लोग…”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8A6A4F"/>
                </a:solidFill>
                <a:latin typeface="Hind"/>
              </a:rPr>
              <a:t>भारत एक संप्रभु, समाजवादी, पंथनिरपेक्ष, लोकतांत्रिक गणराज्य है।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चार स्तंभ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प्रस्तावना के मुख्य आदर्श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14600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1D06"/>
                </a:solidFill>
                <a:latin typeface="Hind"/>
              </a:rPr>
              <a:t>न्याय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2A1A"/>
                </a:solidFill>
                <a:latin typeface="Hind"/>
              </a:rPr>
              <a:t>सामाजिक, आर्थिक और राजनीतिक न्याय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920240"/>
            <a:ext cx="25146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1D06"/>
                </a:solidFill>
                <a:latin typeface="Hind"/>
              </a:rPr>
              <a:t>स्वतंत्रता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2A1A"/>
                </a:solidFill>
                <a:latin typeface="Hind"/>
              </a:rPr>
              <a:t>विचार, अभिव्यक्ति, विश्वास और उपासना की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514600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1D06"/>
                </a:solidFill>
                <a:latin typeface="Hind"/>
              </a:rPr>
              <a:t>समता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2A1A"/>
                </a:solidFill>
                <a:latin typeface="Hind"/>
              </a:rPr>
              <a:t>प्रतिष्ठा और अवसर की समानता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51460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920240"/>
            <a:ext cx="25146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286000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1D06"/>
                </a:solidFill>
                <a:latin typeface="Hind"/>
              </a:rPr>
              <a:t>बंधुता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54680"/>
            <a:ext cx="1965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2A1A"/>
                </a:solidFill>
                <a:latin typeface="Hind"/>
              </a:rPr>
              <a:t>व्यक्ति की गरिमा और देश की एकता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भाग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मौलिक अधिकार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समानता का अधिकार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528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75559"/>
            <a:ext cx="60350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स्वतंत्रता का अधिकार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8632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276599"/>
            <a:ext cx="60350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शोषण के विरुद्ध अधिकार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08736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977639"/>
            <a:ext cx="60350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धार्मिक स्वतंत्रता का अधिकार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78840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678679"/>
            <a:ext cx="60350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संस्कृति और शिक्षा संबंधी अधिकार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48944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379719"/>
            <a:ext cx="60350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संवैधानिक उपचारों का अधिकार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Hind"/>
              </a:rPr>
              <a:t>जानिए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F2A1A"/>
                </a:solidFill>
                <a:latin typeface="Hind"/>
              </a:rPr>
              <a:t>डॉ. अंबेडकर ने संवैधानिक उपचारों के अधिकार को संविधान का “हृदय और आत्मा” कहा।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भाग 4क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मौलिक कर्तव्य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संविधान, राष्ट्रध्वज और राष्ट्रगान का सम्मान करना।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देश की एकता और अखंडता की रक्षा करना।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सार्वजनिक संपत्ति की सुरक्षा करना।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पर्यावरण की रक्षा करना।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Hind"/>
              </a:rPr>
              <a:t>संख्या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F2A1A"/>
                </a:solidFill>
                <a:latin typeface="Hind"/>
              </a:rPr>
              <a:t>अभी संविधान में 11 मौलिक कर्तव्य हैं।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शक्तियों का बँटवारा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सरकार के तीन अंग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B1D06"/>
                </a:solidFill>
                <a:latin typeface="Hind"/>
              </a:rPr>
              <a:t>विधायिका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F2A1A"/>
                </a:solidFill>
                <a:latin typeface="Hind"/>
              </a:rPr>
              <a:t>कानून बनाती है: संसद (लोकसभा और राज्यसभा)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B1D06"/>
                </a:solidFill>
                <a:latin typeface="Hind"/>
              </a:rPr>
              <a:t>कार्यपालिका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F2A1A"/>
                </a:solidFill>
                <a:latin typeface="Hind"/>
              </a:rPr>
              <a:t>कानून लागू करती है: राष्ट्रपति, प्रधानमंत्री और मंत्रिपरिषद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B1D06"/>
                </a:solidFill>
                <a:latin typeface="Hind"/>
              </a:rPr>
              <a:t>न्यायपालिका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F2A1A"/>
                </a:solidFill>
                <a:latin typeface="Hind"/>
              </a:rPr>
              <a:t>कानून की व्याख्या करती है: सर्वोच्च न्यायालय और उच्च न्यायालय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मुख्य बातें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संविधान की विशेषताएँ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विश्व का सबसे लंबा लिखित संविधान।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संघीय ढाँचा: केंद्र और राज्यों में शक्तियों का बँटवारा।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संसदीय शासन प्रणाली।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F2A1A"/>
                </a:solidFill>
                <a:latin typeface="Hind"/>
              </a:rPr>
              <a:t>स्वतंत्र न्यायपालिका।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Hind"/>
              </a:rPr>
              <a:t>स्वयं जाँचें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B1D06"/>
                </a:solidFill>
                <a:latin typeface="Hind"/>
              </a:rPr>
              <a:t>अभ्यास प्रश्न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B1D06"/>
                </a:solidFill>
                <a:latin typeface="Hind"/>
              </a:rPr>
              <a:t>Q1. भारत का संविधान कब लागू हुआ?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8A6A4F"/>
                </a:solidFill>
                <a:latin typeface="Hind"/>
              </a:rPr>
              <a:t>(क) 15 अगस्त 1947     (ख) 26 जनवरी 1950     (ग) 26 नवंबर 1949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B1D06"/>
                </a:solidFill>
                <a:latin typeface="Hind"/>
              </a:rPr>
              <a:t>Q2. प्रारूप समिति के अध्यक्ष कौन थे?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8A6A4F"/>
                </a:solidFill>
                <a:latin typeface="Hind"/>
              </a:rPr>
              <a:t>(क) महात्मा गांधी     (ख) जवाहरलाल नेहरू     (ग) डॉ. भीमराव अंबेडकर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B1D06"/>
                </a:solidFill>
                <a:latin typeface="Hind"/>
              </a:rPr>
              <a:t>Q3. कानून कौन बनाता है?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8A6A4F"/>
                </a:solidFill>
                <a:latin typeface="Hind"/>
              </a:rPr>
              <a:t>(क) विधायिका     (ख) न्यायपालिका     (ग) कार्यपालिका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6A4F"/>
                </a:solidFill>
                <a:latin typeface="Hind"/>
              </a:rPr>
              <a:t>भारत का संविधान · कक्षा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6A4F"/>
                </a:solidFill>
                <a:latin typeface="Hi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3B1D06"/>
                </a:solidFill>
                <a:latin typeface="Hind"/>
              </a:rPr>
              <a:t>धन्यवाद!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8A6A4F"/>
                </a:solidFill>
                <a:latin typeface="Hind"/>
              </a:rPr>
              <a:t>उत्तर: प्र.1 (ख) · प्र.2 (ग) · प्र.3 (क)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